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8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>
            <a:noFill/>
          </a:ln>
        </p:spPr>
      </p:sp>
      <p:sp>
        <p:nvSpPr>
          <p:cNvPr id="3" name="Block 3"/>
          <p:cNvSpPr/>
          <p:nvPr/>
        </p:nvSpPr>
        <p:spPr>
          <a:xfrm>
            <a:off x="0" y="0"/>
            <a:ext cx="12192000" cy="64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50000" y="190000"/>
            <a:ext cx="90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500">
                <a:b/>
                <a:solidFill>
                  <a:srgbClr val="FFFFFF"/>
                </a:solidFill>
                <a:latin typeface="Aptos"/>
                <a:ea typeface="Microsoft JhengHei"/>
              </a:rPr>
              <a:t>SUIYUE HRIS TRAINING</a:t>
            </a:r>
            <a:endParaRPr lang="zh-TW" sz="1500"/>
          </a:p>
        </p:txBody>
      </p:sp>
      <p:sp>
        <p:nvSpPr>
          <p:cNvPr id="5" name="Text 5"/>
          <p:cNvSpPr txBox="1"/>
          <p:nvPr/>
        </p:nvSpPr>
        <p:spPr>
          <a:xfrm>
            <a:off x="650000" y="1050000"/>
            <a:ext cx="9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3600">
                <a:b/>
                <a:solidFill>
                  <a:srgbClr val="172033"/>
                </a:solidFill>
                <a:latin typeface="Aptos"/>
                <a:ea typeface="Microsoft JhengHei"/>
              </a:rPr>
              <a:t>歲悅 HRIS 使用教學</a:t>
            </a:r>
            <a:endParaRPr lang="zh-TW" sz="3600"/>
          </a:p>
        </p:txBody>
      </p:sp>
      <p:sp>
        <p:nvSpPr>
          <p:cNvPr id="6" name="Block 6"/>
          <p:cNvSpPr/>
          <p:nvPr/>
        </p:nvSpPr>
        <p:spPr>
          <a:xfrm>
            <a:off x="720000" y="219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950000" y="210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登入頁提供手冊與 PPT 下載</a:t>
            </a:r>
            <a:endParaRPr lang="zh-TW" sz="2100"/>
          </a:p>
        </p:txBody>
      </p:sp>
      <p:sp>
        <p:nvSpPr>
          <p:cNvPr id="8" name="Block 8"/>
          <p:cNvSpPr/>
          <p:nvPr/>
        </p:nvSpPr>
        <p:spPr>
          <a:xfrm>
            <a:off x="720000" y="281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950000" y="272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系統內頁保持乾淨，不再每頁顯示操作教學</a:t>
            </a:r>
            <a:endParaRPr lang="zh-TW" sz="2100"/>
          </a:p>
        </p:txBody>
      </p:sp>
      <p:sp>
        <p:nvSpPr>
          <p:cNvPr id="10" name="Block 10"/>
          <p:cNvSpPr/>
          <p:nvPr/>
        </p:nvSpPr>
        <p:spPr>
          <a:xfrm>
            <a:off x="720000" y="343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950000" y="334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依角色呈現不同功能與資料權限</a:t>
            </a:r>
            <a:endParaRPr lang="zh-TW" sz="2100"/>
          </a:p>
        </p:txBody>
      </p:sp>
      <p:sp>
        <p:nvSpPr>
          <p:cNvPr id="12" name="Text 12"/>
          <p:cNvSpPr txBox="1"/>
          <p:nvPr/>
        </p:nvSpPr>
        <p:spPr>
          <a:xfrm>
            <a:off x="650000" y="628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>
                <a:solidFill>
                  <a:srgbClr val="7A6A57"/>
                </a:solidFill>
                <a:latin typeface="Aptos"/>
                <a:ea typeface="Microsoft JhengHei"/>
              </a:rPr>
              <a:t>歲悅長照集團 · HRIS 操作簡報 · 1/7</a:t>
            </a:r>
            <a:endParaRPr lang="zh-TW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>
            <a:noFill/>
          </a:ln>
        </p:spPr>
      </p:sp>
      <p:sp>
        <p:nvSpPr>
          <p:cNvPr id="3" name="Block 3"/>
          <p:cNvSpPr/>
          <p:nvPr/>
        </p:nvSpPr>
        <p:spPr>
          <a:xfrm>
            <a:off x="0" y="0"/>
            <a:ext cx="12192000" cy="64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50000" y="190000"/>
            <a:ext cx="90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500">
                <a:b/>
                <a:solidFill>
                  <a:srgbClr val="FFFFFF"/>
                </a:solidFill>
                <a:latin typeface="Aptos"/>
                <a:ea typeface="Microsoft JhengHei"/>
              </a:rPr>
              <a:t>SUIYUE HRIS TRAINING</a:t>
            </a:r>
            <a:endParaRPr lang="zh-TW" sz="1500"/>
          </a:p>
        </p:txBody>
      </p:sp>
      <p:sp>
        <p:nvSpPr>
          <p:cNvPr id="5" name="Text 5"/>
          <p:cNvSpPr txBox="1"/>
          <p:nvPr/>
        </p:nvSpPr>
        <p:spPr>
          <a:xfrm>
            <a:off x="650000" y="1050000"/>
            <a:ext cx="9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3600">
                <a:b/>
                <a:solidFill>
                  <a:srgbClr val="172033"/>
                </a:solidFill>
                <a:latin typeface="Aptos"/>
                <a:ea typeface="Microsoft JhengHei"/>
              </a:rPr>
              <a:t>1. 角色入口</a:t>
            </a:r>
            <a:endParaRPr lang="zh-TW" sz="3600"/>
          </a:p>
        </p:txBody>
      </p:sp>
      <p:sp>
        <p:nvSpPr>
          <p:cNvPr id="6" name="Block 6"/>
          <p:cNvSpPr/>
          <p:nvPr/>
        </p:nvSpPr>
        <p:spPr>
          <a:xfrm>
            <a:off x="720000" y="219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950000" y="210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組員：打卡、表單、薪資袋</a:t>
            </a:r>
            <a:endParaRPr lang="zh-TW" sz="2100"/>
          </a:p>
        </p:txBody>
      </p:sp>
      <p:sp>
        <p:nvSpPr>
          <p:cNvPr id="8" name="Block 8"/>
          <p:cNvSpPr/>
          <p:nvPr/>
        </p:nvSpPr>
        <p:spPr>
          <a:xfrm>
            <a:off x="720000" y="281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950000" y="272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主管：待辦、簽核、部門異常</a:t>
            </a:r>
            <a:endParaRPr lang="zh-TW" sz="2100"/>
          </a:p>
        </p:txBody>
      </p:sp>
      <p:sp>
        <p:nvSpPr>
          <p:cNvPr id="10" name="Block 10"/>
          <p:cNvSpPr/>
          <p:nvPr/>
        </p:nvSpPr>
        <p:spPr>
          <a:xfrm>
            <a:off x="720000" y="343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950000" y="334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人資：員工主檔、假勤、證照、訓練</a:t>
            </a:r>
            <a:endParaRPr lang="zh-TW" sz="2100"/>
          </a:p>
        </p:txBody>
      </p:sp>
      <p:sp>
        <p:nvSpPr>
          <p:cNvPr id="12" name="Block 12"/>
          <p:cNvSpPr/>
          <p:nvPr/>
        </p:nvSpPr>
        <p:spPr>
          <a:xfrm>
            <a:off x="720000" y="405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950000" y="396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行政主任 / 執行長：設定、權限、報表、營運</a:t>
            </a:r>
            <a:endParaRPr lang="zh-TW" sz="2100"/>
          </a:p>
        </p:txBody>
      </p:sp>
      <p:sp>
        <p:nvSpPr>
          <p:cNvPr id="14" name="Text 14"/>
          <p:cNvSpPr txBox="1"/>
          <p:nvPr/>
        </p:nvSpPr>
        <p:spPr>
          <a:xfrm>
            <a:off x="650000" y="628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>
                <a:solidFill>
                  <a:srgbClr val="7A6A57"/>
                </a:solidFill>
                <a:latin typeface="Aptos"/>
                <a:ea typeface="Microsoft JhengHei"/>
              </a:rPr>
              <a:t>歲悅長照集團 · HRIS 操作簡報 · 2/7</a:t>
            </a:r>
            <a:endParaRPr lang="zh-TW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>
            <a:noFill/>
          </a:ln>
        </p:spPr>
      </p:sp>
      <p:sp>
        <p:nvSpPr>
          <p:cNvPr id="3" name="Block 3"/>
          <p:cNvSpPr/>
          <p:nvPr/>
        </p:nvSpPr>
        <p:spPr>
          <a:xfrm>
            <a:off x="0" y="0"/>
            <a:ext cx="12192000" cy="64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50000" y="190000"/>
            <a:ext cx="90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500">
                <a:b/>
                <a:solidFill>
                  <a:srgbClr val="FFFFFF"/>
                </a:solidFill>
                <a:latin typeface="Aptos"/>
                <a:ea typeface="Microsoft JhengHei"/>
              </a:rPr>
              <a:t>SUIYUE HRIS TRAINING</a:t>
            </a:r>
            <a:endParaRPr lang="zh-TW" sz="1500"/>
          </a:p>
        </p:txBody>
      </p:sp>
      <p:sp>
        <p:nvSpPr>
          <p:cNvPr id="5" name="Text 5"/>
          <p:cNvSpPr txBox="1"/>
          <p:nvPr/>
        </p:nvSpPr>
        <p:spPr>
          <a:xfrm>
            <a:off x="650000" y="1050000"/>
            <a:ext cx="9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3600">
                <a:b/>
                <a:solidFill>
                  <a:srgbClr val="172033"/>
                </a:solidFill>
                <a:latin typeface="Aptos"/>
                <a:ea typeface="Microsoft JhengHei"/>
              </a:rPr>
              <a:t>2. 員工每日操作</a:t>
            </a:r>
            <a:endParaRPr lang="zh-TW" sz="3600"/>
          </a:p>
        </p:txBody>
      </p:sp>
      <p:sp>
        <p:nvSpPr>
          <p:cNvPr id="6" name="Block 6"/>
          <p:cNvSpPr/>
          <p:nvPr/>
        </p:nvSpPr>
        <p:spPr>
          <a:xfrm>
            <a:off x="720000" y="219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950000" y="210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今日首頁查看待辦與公告</a:t>
            </a:r>
            <a:endParaRPr lang="zh-TW" sz="2100"/>
          </a:p>
        </p:txBody>
      </p:sp>
      <p:sp>
        <p:nvSpPr>
          <p:cNvPr id="8" name="Block 8"/>
          <p:cNvSpPr/>
          <p:nvPr/>
        </p:nvSpPr>
        <p:spPr>
          <a:xfrm>
            <a:off x="720000" y="281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950000" y="272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打卡頁確認定位與公司距離</a:t>
            </a:r>
            <a:endParaRPr lang="zh-TW" sz="2100"/>
          </a:p>
        </p:txBody>
      </p:sp>
      <p:sp>
        <p:nvSpPr>
          <p:cNvPr id="10" name="Block 10"/>
          <p:cNvSpPr/>
          <p:nvPr/>
        </p:nvSpPr>
        <p:spPr>
          <a:xfrm>
            <a:off x="720000" y="343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950000" y="334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表單申請選擇獨立表單填寫</a:t>
            </a:r>
            <a:endParaRPr lang="zh-TW" sz="2100"/>
          </a:p>
        </p:txBody>
      </p:sp>
      <p:sp>
        <p:nvSpPr>
          <p:cNvPr id="12" name="Block 12"/>
          <p:cNvSpPr/>
          <p:nvPr/>
        </p:nvSpPr>
        <p:spPr>
          <a:xfrm>
            <a:off x="720000" y="405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950000" y="396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表單追蹤查看包裹式進度</a:t>
            </a:r>
            <a:endParaRPr lang="zh-TW" sz="2100"/>
          </a:p>
        </p:txBody>
      </p:sp>
      <p:sp>
        <p:nvSpPr>
          <p:cNvPr id="14" name="Text 14"/>
          <p:cNvSpPr txBox="1"/>
          <p:nvPr/>
        </p:nvSpPr>
        <p:spPr>
          <a:xfrm>
            <a:off x="650000" y="628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>
                <a:solidFill>
                  <a:srgbClr val="7A6A57"/>
                </a:solidFill>
                <a:latin typeface="Aptos"/>
                <a:ea typeface="Microsoft JhengHei"/>
              </a:rPr>
              <a:t>歲悅長照集團 · HRIS 操作簡報 · 3/7</a:t>
            </a:r>
            <a:endParaRPr lang="zh-TW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>
            <a:noFill/>
          </a:ln>
        </p:spPr>
      </p:sp>
      <p:sp>
        <p:nvSpPr>
          <p:cNvPr id="3" name="Block 3"/>
          <p:cNvSpPr/>
          <p:nvPr/>
        </p:nvSpPr>
        <p:spPr>
          <a:xfrm>
            <a:off x="0" y="0"/>
            <a:ext cx="12192000" cy="64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50000" y="190000"/>
            <a:ext cx="90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500">
                <a:b/>
                <a:solidFill>
                  <a:srgbClr val="FFFFFF"/>
                </a:solidFill>
                <a:latin typeface="Aptos"/>
                <a:ea typeface="Microsoft JhengHei"/>
              </a:rPr>
              <a:t>SUIYUE HRIS TRAINING</a:t>
            </a:r>
            <a:endParaRPr lang="zh-TW" sz="1500"/>
          </a:p>
        </p:txBody>
      </p:sp>
      <p:sp>
        <p:nvSpPr>
          <p:cNvPr id="5" name="Text 5"/>
          <p:cNvSpPr txBox="1"/>
          <p:nvPr/>
        </p:nvSpPr>
        <p:spPr>
          <a:xfrm>
            <a:off x="650000" y="1050000"/>
            <a:ext cx="9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3600">
                <a:b/>
                <a:solidFill>
                  <a:srgbClr val="172033"/>
                </a:solidFill>
                <a:latin typeface="Aptos"/>
                <a:ea typeface="Microsoft JhengHei"/>
              </a:rPr>
              <a:t>3. 主管決策</a:t>
            </a:r>
            <a:endParaRPr lang="zh-TW" sz="3600"/>
          </a:p>
        </p:txBody>
      </p:sp>
      <p:sp>
        <p:nvSpPr>
          <p:cNvPr id="6" name="Block 6"/>
          <p:cNvSpPr/>
          <p:nvPr/>
        </p:nvSpPr>
        <p:spPr>
          <a:xfrm>
            <a:off x="720000" y="219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950000" y="210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主管首頁聚焦待辦中心</a:t>
            </a:r>
            <a:endParaRPr lang="zh-TW" sz="2100"/>
          </a:p>
        </p:txBody>
      </p:sp>
      <p:sp>
        <p:nvSpPr>
          <p:cNvPr id="8" name="Block 8"/>
          <p:cNvSpPr/>
          <p:nvPr/>
        </p:nvSpPr>
        <p:spPr>
          <a:xfrm>
            <a:off x="720000" y="281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950000" y="272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簽核頁查看理由、附件、代理人與影響</a:t>
            </a:r>
            <a:endParaRPr lang="zh-TW" sz="2100"/>
          </a:p>
        </p:txBody>
      </p:sp>
      <p:sp>
        <p:nvSpPr>
          <p:cNvPr id="10" name="Block 10"/>
          <p:cNvSpPr/>
          <p:nvPr/>
        </p:nvSpPr>
        <p:spPr>
          <a:xfrm>
            <a:off x="720000" y="343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950000" y="334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部門出勤異常可連動補卡</a:t>
            </a:r>
            <a:endParaRPr lang="zh-TW" sz="2100"/>
          </a:p>
        </p:txBody>
      </p:sp>
      <p:sp>
        <p:nvSpPr>
          <p:cNvPr id="12" name="Block 12"/>
          <p:cNvSpPr/>
          <p:nvPr/>
        </p:nvSpPr>
        <p:spPr>
          <a:xfrm>
            <a:off x="720000" y="405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950000" y="396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不顯示員工敏感個資與薪資</a:t>
            </a:r>
            <a:endParaRPr lang="zh-TW" sz="2100"/>
          </a:p>
        </p:txBody>
      </p:sp>
      <p:sp>
        <p:nvSpPr>
          <p:cNvPr id="14" name="Text 14"/>
          <p:cNvSpPr txBox="1"/>
          <p:nvPr/>
        </p:nvSpPr>
        <p:spPr>
          <a:xfrm>
            <a:off x="650000" y="628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>
                <a:solidFill>
                  <a:srgbClr val="7A6A57"/>
                </a:solidFill>
                <a:latin typeface="Aptos"/>
                <a:ea typeface="Microsoft JhengHei"/>
              </a:rPr>
              <a:t>歲悅長照集團 · HRIS 操作簡報 · 4/7</a:t>
            </a:r>
            <a:endParaRPr lang="zh-TW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>
            <a:noFill/>
          </a:ln>
        </p:spPr>
      </p:sp>
      <p:sp>
        <p:nvSpPr>
          <p:cNvPr id="3" name="Block 3"/>
          <p:cNvSpPr/>
          <p:nvPr/>
        </p:nvSpPr>
        <p:spPr>
          <a:xfrm>
            <a:off x="0" y="0"/>
            <a:ext cx="12192000" cy="64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50000" y="190000"/>
            <a:ext cx="90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500">
                <a:b/>
                <a:solidFill>
                  <a:srgbClr val="FFFFFF"/>
                </a:solidFill>
                <a:latin typeface="Aptos"/>
                <a:ea typeface="Microsoft JhengHei"/>
              </a:rPr>
              <a:t>SUIYUE HRIS TRAINING</a:t>
            </a:r>
            <a:endParaRPr lang="zh-TW" sz="1500"/>
          </a:p>
        </p:txBody>
      </p:sp>
      <p:sp>
        <p:nvSpPr>
          <p:cNvPr id="5" name="Text 5"/>
          <p:cNvSpPr txBox="1"/>
          <p:nvPr/>
        </p:nvSpPr>
        <p:spPr>
          <a:xfrm>
            <a:off x="650000" y="1050000"/>
            <a:ext cx="9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3600">
                <a:b/>
                <a:solidFill>
                  <a:srgbClr val="172033"/>
                </a:solidFill>
                <a:latin typeface="Aptos"/>
                <a:ea typeface="Microsoft JhengHei"/>
              </a:rPr>
              <a:t>4. 人資後台</a:t>
            </a:r>
            <a:endParaRPr lang="zh-TW" sz="3600"/>
          </a:p>
        </p:txBody>
      </p:sp>
      <p:sp>
        <p:nvSpPr>
          <p:cNvPr id="6" name="Block 6"/>
          <p:cNvSpPr/>
          <p:nvPr/>
        </p:nvSpPr>
        <p:spPr>
          <a:xfrm>
            <a:off x="720000" y="219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950000" y="210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員工主檔完整度要可行動</a:t>
            </a:r>
            <a:endParaRPr lang="zh-TW" sz="2100"/>
          </a:p>
        </p:txBody>
      </p:sp>
      <p:sp>
        <p:nvSpPr>
          <p:cNvPr id="8" name="Block 8"/>
          <p:cNvSpPr/>
          <p:nvPr/>
        </p:nvSpPr>
        <p:spPr>
          <a:xfrm>
            <a:off x="720000" y="281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950000" y="272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證照與教育訓練需長照化</a:t>
            </a:r>
            <a:endParaRPr lang="zh-TW" sz="2100"/>
          </a:p>
        </p:txBody>
      </p:sp>
      <p:sp>
        <p:nvSpPr>
          <p:cNvPr id="10" name="Block 10"/>
          <p:cNvSpPr/>
          <p:nvPr/>
        </p:nvSpPr>
        <p:spPr>
          <a:xfrm>
            <a:off x="720000" y="343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950000" y="334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系統設定分上線必填與進階設定</a:t>
            </a:r>
            <a:endParaRPr lang="zh-TW" sz="2100"/>
          </a:p>
        </p:txBody>
      </p:sp>
      <p:sp>
        <p:nvSpPr>
          <p:cNvPr id="12" name="Block 12"/>
          <p:cNvSpPr/>
          <p:nvPr/>
        </p:nvSpPr>
        <p:spPr>
          <a:xfrm>
            <a:off x="720000" y="405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950000" y="396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上線營運中心檢查排程、備份、通知與錯誤</a:t>
            </a:r>
            <a:endParaRPr lang="zh-TW" sz="2100"/>
          </a:p>
        </p:txBody>
      </p:sp>
      <p:sp>
        <p:nvSpPr>
          <p:cNvPr id="14" name="Text 14"/>
          <p:cNvSpPr txBox="1"/>
          <p:nvPr/>
        </p:nvSpPr>
        <p:spPr>
          <a:xfrm>
            <a:off x="650000" y="628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>
                <a:solidFill>
                  <a:srgbClr val="7A6A57"/>
                </a:solidFill>
                <a:latin typeface="Aptos"/>
                <a:ea typeface="Microsoft JhengHei"/>
              </a:rPr>
              <a:t>歲悅長照集團 · HRIS 操作簡報 · 5/7</a:t>
            </a:r>
            <a:endParaRPr lang="zh-TW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>
            <a:noFill/>
          </a:ln>
        </p:spPr>
      </p:sp>
      <p:sp>
        <p:nvSpPr>
          <p:cNvPr id="3" name="Block 3"/>
          <p:cNvSpPr/>
          <p:nvPr/>
        </p:nvSpPr>
        <p:spPr>
          <a:xfrm>
            <a:off x="0" y="0"/>
            <a:ext cx="12192000" cy="64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50000" y="190000"/>
            <a:ext cx="90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500">
                <a:b/>
                <a:solidFill>
                  <a:srgbClr val="FFFFFF"/>
                </a:solidFill>
                <a:latin typeface="Aptos"/>
                <a:ea typeface="Microsoft JhengHei"/>
              </a:rPr>
              <a:t>SUIYUE HRIS TRAINING</a:t>
            </a:r>
            <a:endParaRPr lang="zh-TW" sz="1500"/>
          </a:p>
        </p:txBody>
      </p:sp>
      <p:sp>
        <p:nvSpPr>
          <p:cNvPr id="5" name="Text 5"/>
          <p:cNvSpPr txBox="1"/>
          <p:nvPr/>
        </p:nvSpPr>
        <p:spPr>
          <a:xfrm>
            <a:off x="650000" y="1050000"/>
            <a:ext cx="9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3600">
                <a:b/>
                <a:solidFill>
                  <a:srgbClr val="172033"/>
                </a:solidFill>
                <a:latin typeface="Aptos"/>
                <a:ea typeface="Microsoft JhengHei"/>
              </a:rPr>
              <a:t>5. 薪資與法遵</a:t>
            </a:r>
            <a:endParaRPr lang="zh-TW" sz="3600"/>
          </a:p>
        </p:txBody>
      </p:sp>
      <p:sp>
        <p:nvSpPr>
          <p:cNvPr id="6" name="Block 6"/>
          <p:cNvSpPr/>
          <p:nvPr/>
        </p:nvSpPr>
        <p:spPr>
          <a:xfrm>
            <a:off x="720000" y="219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950000" y="210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出勤、補卡、請假、加班會阻擋結薪</a:t>
            </a:r>
            <a:endParaRPr lang="zh-TW" sz="2100"/>
          </a:p>
        </p:txBody>
      </p:sp>
      <p:sp>
        <p:nvSpPr>
          <p:cNvPr id="8" name="Block 8"/>
          <p:cNvSpPr/>
          <p:nvPr/>
        </p:nvSpPr>
        <p:spPr>
          <a:xfrm>
            <a:off x="720000" y="281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950000" y="272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薪資鎖定後需走調整紀錄</a:t>
            </a:r>
            <a:endParaRPr lang="zh-TW" sz="2100"/>
          </a:p>
        </p:txBody>
      </p:sp>
      <p:sp>
        <p:nvSpPr>
          <p:cNvPr id="10" name="Block 10"/>
          <p:cNvSpPr/>
          <p:nvPr/>
        </p:nvSpPr>
        <p:spPr>
          <a:xfrm>
            <a:off x="720000" y="343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950000" y="334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薪資袋只允許本人查看</a:t>
            </a:r>
            <a:endParaRPr lang="zh-TW" sz="2100"/>
          </a:p>
        </p:txBody>
      </p:sp>
      <p:sp>
        <p:nvSpPr>
          <p:cNvPr id="12" name="Block 12"/>
          <p:cNvSpPr/>
          <p:nvPr/>
        </p:nvSpPr>
        <p:spPr>
          <a:xfrm>
            <a:off x="720000" y="405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950000" y="396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規則不得低於勞基法與性別平等工作法</a:t>
            </a:r>
            <a:endParaRPr lang="zh-TW" sz="2100"/>
          </a:p>
        </p:txBody>
      </p:sp>
      <p:sp>
        <p:nvSpPr>
          <p:cNvPr id="14" name="Text 14"/>
          <p:cNvSpPr txBox="1"/>
          <p:nvPr/>
        </p:nvSpPr>
        <p:spPr>
          <a:xfrm>
            <a:off x="650000" y="628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>
                <a:solidFill>
                  <a:srgbClr val="7A6A57"/>
                </a:solidFill>
                <a:latin typeface="Aptos"/>
                <a:ea typeface="Microsoft JhengHei"/>
              </a:rPr>
              <a:t>歲悅長照集團 · HRIS 操作簡報 · 6/7</a:t>
            </a:r>
            <a:endParaRPr lang="zh-TW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>
            <a:noFill/>
          </a:ln>
        </p:spPr>
      </p:sp>
      <p:sp>
        <p:nvSpPr>
          <p:cNvPr id="3" name="Block 3"/>
          <p:cNvSpPr/>
          <p:nvPr/>
        </p:nvSpPr>
        <p:spPr>
          <a:xfrm>
            <a:off x="0" y="0"/>
            <a:ext cx="12192000" cy="64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50000" y="190000"/>
            <a:ext cx="90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500">
                <a:b/>
                <a:solidFill>
                  <a:srgbClr val="FFFFFF"/>
                </a:solidFill>
                <a:latin typeface="Aptos"/>
                <a:ea typeface="Microsoft JhengHei"/>
              </a:rPr>
              <a:t>SUIYUE HRIS TRAINING</a:t>
            </a:r>
            <a:endParaRPr lang="zh-TW" sz="1500"/>
          </a:p>
        </p:txBody>
      </p:sp>
      <p:sp>
        <p:nvSpPr>
          <p:cNvPr id="5" name="Text 5"/>
          <p:cNvSpPr txBox="1"/>
          <p:nvPr/>
        </p:nvSpPr>
        <p:spPr>
          <a:xfrm>
            <a:off x="650000" y="1050000"/>
            <a:ext cx="9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3600">
                <a:b/>
                <a:solidFill>
                  <a:srgbClr val="172033"/>
                </a:solidFill>
                <a:latin typeface="Aptos"/>
                <a:ea typeface="Microsoft JhengHei"/>
              </a:rPr>
              <a:t>6. 上線前檢查</a:t>
            </a:r>
            <a:endParaRPr lang="zh-TW" sz="3600"/>
          </a:p>
        </p:txBody>
      </p:sp>
      <p:sp>
        <p:nvSpPr>
          <p:cNvPr id="6" name="Block 6"/>
          <p:cNvSpPr/>
          <p:nvPr/>
        </p:nvSpPr>
        <p:spPr>
          <a:xfrm>
            <a:off x="720000" y="219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950000" y="210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手機版不得整頁左右滑動</a:t>
            </a:r>
            <a:endParaRPr lang="zh-TW" sz="2100"/>
          </a:p>
        </p:txBody>
      </p:sp>
      <p:sp>
        <p:nvSpPr>
          <p:cNvPr id="8" name="Block 8"/>
          <p:cNvSpPr/>
          <p:nvPr/>
        </p:nvSpPr>
        <p:spPr>
          <a:xfrm>
            <a:off x="720000" y="281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950000" y="272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權限壓力測試需通過</a:t>
            </a:r>
            <a:endParaRPr lang="zh-TW" sz="2100"/>
          </a:p>
        </p:txBody>
      </p:sp>
      <p:sp>
        <p:nvSpPr>
          <p:cNvPr id="10" name="Block 10"/>
          <p:cNvSpPr/>
          <p:nvPr/>
        </p:nvSpPr>
        <p:spPr>
          <a:xfrm>
            <a:off x="720000" y="343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950000" y="334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通知 Email worker 與備份排程需正常</a:t>
            </a:r>
            <a:endParaRPr lang="zh-TW" sz="2100"/>
          </a:p>
        </p:txBody>
      </p:sp>
      <p:sp>
        <p:nvSpPr>
          <p:cNvPr id="12" name="Block 12"/>
          <p:cNvSpPr/>
          <p:nvPr/>
        </p:nvSpPr>
        <p:spPr>
          <a:xfrm>
            <a:off x="720000" y="4050000"/>
            <a:ext cx="110000" cy="1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950000" y="396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2100">
                <a:solidFill>
                  <a:srgbClr val="334155"/>
                </a:solidFill>
                <a:latin typeface="Aptos"/>
                <a:ea typeface="Microsoft JhengHei"/>
              </a:rPr>
              <a:t>公告與規章需可回條留痕</a:t>
            </a:r>
            <a:endParaRPr lang="zh-TW" sz="2100"/>
          </a:p>
        </p:txBody>
      </p:sp>
      <p:sp>
        <p:nvSpPr>
          <p:cNvPr id="14" name="Text 14"/>
          <p:cNvSpPr txBox="1"/>
          <p:nvPr/>
        </p:nvSpPr>
        <p:spPr>
          <a:xfrm>
            <a:off x="650000" y="628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TW" sz="1200">
                <a:solidFill>
                  <a:srgbClr val="7A6A57"/>
                </a:solidFill>
                <a:latin typeface="Aptos"/>
                <a:ea typeface="Microsoft JhengHei"/>
              </a:rPr>
              <a:t>歲悅長照集團 · HRIS 操作簡報 · 7/7</a:t>
            </a:r>
            <a:endParaRPr lang="zh-TW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iyue">
  <a:themeElements>
    <a:clrScheme name="Suiyue">
      <a:dk1>
        <a:srgbClr val="172033"/>
      </a:dk1>
      <a:lt1>
        <a:srgbClr val="FFFFFF"/>
      </a:lt1>
      <a:dk2>
        <a:srgbClr val="334155"/>
      </a:dk2>
      <a:lt2>
        <a:srgbClr val="FBFAF8"/>
      </a:lt2>
      <a:accent1>
        <a:srgbClr val="D97706"/>
      </a:accent1>
      <a:accent2>
        <a:srgbClr val="B45309"/>
      </a:accent2>
      <a:accent3>
        <a:srgbClr val="EAD8C2"/>
      </a:accent3>
      <a:accent4>
        <a:srgbClr val="0F766E"/>
      </a:accent4>
      <a:accent5>
        <a:srgbClr val="BE123C"/>
      </a:accent5>
      <a:accent6>
        <a:srgbClr val="2563EB"/>
      </a:accent6>
      <a:hlink>
        <a:srgbClr val="2563EB"/>
      </a:hlink>
      <a:folHlink>
        <a:srgbClr val="7C3AED"/>
      </a:folHlink>
    </a:clrScheme>
    <a:fontScheme name="Suiyue">
      <a:majorFont>
        <a:latin typeface="Aptos Display"/>
        <a:ea typeface="Microsoft JhengHei"/>
      </a:majorFont>
      <a:minorFont>
        <a:latin typeface="Aptos"/>
        <a:ea typeface="Microsoft JhengHei"/>
      </a:minorFont>
    </a:fontScheme>
    <a:fmtScheme name="Suiyu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寬螢幕</PresentationFormat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歲悅 HRIS 操作教學簡報</dc:title>
  <dc:creator>歲悅長照集團</dc:creator>
  <cp:lastModifiedBy>歲悅 HRIS</cp:lastModifiedBy>
</cp:coreProperties>
</file>